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problem. Explain that STAR is the speaking structure, but the product language remains enterprise-friendly. Point to the live queue screenshot as proof that this is not a mockup.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operational pain first, then the product task. This slide establishes why the product exists and why the queue-first model is the right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prove the product. Walk the judge from queue to intake to the incident console, then point to evidence, audit, and the governed action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Shift to the stakeholder lens. Explain that this solves a business problem, creates a product story, and gives engineering a bounded path forward. The training and settings screenshots show maturity and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architecture and next phase. Make it clear what is already real and what comes next. Keep the tone confident: the product is already usable for demos and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2C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89320" y="0"/>
            <a:ext cx="320040" cy="6858000"/>
          </a:xfrm>
          <a:prstGeom prst="rect">
            <a:avLst/>
          </a:prstGeom>
          <a:solidFill>
            <a:srgbClr val="30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881360" y="-91440"/>
            <a:ext cx="2011680" cy="1920240"/>
          </a:xfrm>
          <a:prstGeom prst="rect">
            <a:avLst/>
          </a:prstGeom>
          <a:solidFill>
            <a:srgbClr val="22C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-182880" y="5715000"/>
            <a:ext cx="2743200" cy="1188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411480"/>
            <a:ext cx="2423160" cy="329184"/>
          </a:xfrm>
          <a:prstGeom prst="roundRect">
            <a:avLst/>
          </a:prstGeom>
          <a:solidFill>
            <a:srgbClr val="22C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A1126"/>
                </a:solidFill>
                <a:latin typeface="Aptos"/>
              </a:rPr>
              <a:t>NEXUS v2 | STAR pitch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14400"/>
            <a:ext cx="5486400" cy="10058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800" b="1" i="0">
                <a:solidFill>
                  <a:srgbClr val="F8FAFC"/>
                </a:solidFill>
                <a:latin typeface="Aptos"/>
              </a:rPr>
              <a:t>Situation, Task, Action,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28800"/>
            <a:ext cx="5394960" cy="7772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600" b="0" i="0">
                <a:solidFill>
                  <a:srgbClr val="CBD5E1"/>
                </a:solidFill>
                <a:latin typeface="Aptos"/>
              </a:rPr>
              <a:t>A queue-first incident response product for business, product, engineering, and operations stakeholders.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43200"/>
            <a:ext cx="5166360" cy="1051560"/>
          </a:xfrm>
          <a:prstGeom prst="roundRect">
            <a:avLst/>
          </a:prstGeom>
          <a:solidFill>
            <a:srgbClr val="162038"/>
          </a:solidFill>
          <a:ln w="1397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880360"/>
            <a:ext cx="4837176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Aptos"/>
              </a:rPr>
              <a:t>Why this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127248"/>
            <a:ext cx="4837176" cy="5943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Aptos"/>
              </a:rPr>
              <a:t>Fragmented intake, unclear ownership, and hidden evidence slow incident work and make demos feel incomplete.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77639"/>
            <a:ext cx="5166360" cy="1051560"/>
          </a:xfrm>
          <a:prstGeom prst="roundRect">
            <a:avLst/>
          </a:prstGeom>
          <a:solidFill>
            <a:srgbClr val="162038"/>
          </a:solidFill>
          <a:ln w="1397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4114799"/>
            <a:ext cx="4837176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30D3FF"/>
                </a:solidFill>
                <a:latin typeface="Aptos"/>
              </a:rPr>
              <a:t>What NEXUS shows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361687"/>
            <a:ext cx="4837176" cy="5943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Aptos"/>
              </a:rPr>
              <a:t>A visible queue, an explainable incident console, and a governed path from intake to outcome.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713232"/>
            <a:ext cx="4983480" cy="4160520"/>
          </a:xfrm>
          <a:prstGeom prst="roundRect">
            <a:avLst/>
          </a:prstGeom>
          <a:solidFill>
            <a:srgbClr val="162038"/>
          </a:solidFill>
          <a:ln w="1397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queue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822960"/>
            <a:ext cx="4754880" cy="3931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56832" y="4553712"/>
            <a:ext cx="438912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Aptos"/>
              </a:rPr>
              <a:t>Live queue-first landing surface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5486400"/>
            <a:ext cx="2788920" cy="841248"/>
          </a:xfrm>
          <a:prstGeom prst="roundRect">
            <a:avLst/>
          </a:prstGeom>
          <a:solidFill>
            <a:srgbClr val="10182B"/>
          </a:solidFill>
          <a:ln w="1397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5577840"/>
            <a:ext cx="2532888" cy="1828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Aptos"/>
              </a:rPr>
              <a:t>Situation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769864"/>
            <a:ext cx="2532888" cy="384048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Aptos"/>
              </a:rPr>
              <a:t>Incident intake is fragmented across channels.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75304" y="5486400"/>
            <a:ext cx="2788920" cy="841248"/>
          </a:xfrm>
          <a:prstGeom prst="roundRect">
            <a:avLst/>
          </a:prstGeom>
          <a:solidFill>
            <a:srgbClr val="10182B"/>
          </a:solidFill>
          <a:ln w="13970">
            <a:solidFill>
              <a:srgbClr val="30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3320" y="5577840"/>
            <a:ext cx="2532888" cy="1828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30D3FF"/>
                </a:solidFill>
                <a:latin typeface="Aptos"/>
              </a:rPr>
              <a:t>Task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5769864"/>
            <a:ext cx="2532888" cy="384048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Aptos"/>
              </a:rPr>
              <a:t>Create one operating model with visible priority.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28816" y="5486400"/>
            <a:ext cx="2788920" cy="841248"/>
          </a:xfrm>
          <a:prstGeom prst="roundRect">
            <a:avLst/>
          </a:prstGeom>
          <a:solidFill>
            <a:srgbClr val="10182B"/>
          </a:solidFill>
          <a:ln w="13970">
            <a:solidFill>
              <a:srgbClr val="22C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56832" y="5577840"/>
            <a:ext cx="2532888" cy="1828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22C5A0"/>
                </a:solidFill>
                <a:latin typeface="Aptos"/>
              </a:rPr>
              <a:t>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6832" y="5769864"/>
            <a:ext cx="2532888" cy="384048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Aptos"/>
              </a:rPr>
              <a:t>Show the live product proving the workflow.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82328" y="5486400"/>
            <a:ext cx="2788920" cy="841248"/>
          </a:xfrm>
          <a:prstGeom prst="roundRect">
            <a:avLst/>
          </a:prstGeom>
          <a:solidFill>
            <a:srgbClr val="10182B"/>
          </a:solidFill>
          <a:ln w="1397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10344" y="5577840"/>
            <a:ext cx="2532888" cy="1828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A3E635"/>
                </a:solidFill>
                <a:latin typeface="Aptos"/>
              </a:rPr>
              <a:t>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10344" y="5769864"/>
            <a:ext cx="2532888" cy="384048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Aptos"/>
              </a:rPr>
              <a:t>Deliver clarity, credibility, and a path to hardening.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46520"/>
            <a:ext cx="914400" cy="1828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  <a:latin typeface="Aptos"/>
              </a:rPr>
              <a:t>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920240" cy="329184"/>
          </a:xfrm>
          <a:prstGeom prst="roundRect">
            <a:avLst/>
          </a:prstGeom>
          <a:solidFill>
            <a:srgbClr val="22C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A1126"/>
                </a:solidFill>
                <a:latin typeface="Aptos"/>
              </a:rPr>
              <a:t>01 / STAR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5760720" cy="10058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700" b="1" i="0">
                <a:solidFill>
                  <a:srgbClr val="F8FAFC"/>
                </a:solidFill>
                <a:latin typeface="Aptos"/>
              </a:rPr>
              <a:t>Situation and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486400" cy="6858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Aptos"/>
              </a:rPr>
              <a:t>The system is designed to convert fragmented incident handling into one understandable operating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5303520" cy="3520440"/>
          </a:xfrm>
          <a:prstGeom prst="roundRect">
            <a:avLst/>
          </a:prstGeom>
          <a:solidFill>
            <a:srgbClr val="10182B"/>
          </a:solidFill>
          <a:ln w="1397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201168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BBF24"/>
                </a:solidFill>
                <a:latin typeface="Aptos"/>
              </a:rPr>
              <a:t>Situation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697480"/>
            <a:ext cx="4846320" cy="822960"/>
          </a:xfrm>
          <a:prstGeom prst="roundRect">
            <a:avLst/>
          </a:prstGeom>
          <a:solidFill>
            <a:srgbClr val="162038"/>
          </a:solidFill>
          <a:ln w="1397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834640"/>
            <a:ext cx="4517136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Aptos"/>
              </a:rPr>
              <a:t>Fragmented intake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3081528"/>
            <a:ext cx="4517136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Aptos"/>
              </a:rPr>
              <a:t>Webhook, manual reports, chat commands, streams, and batch data all arrive differently.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657600"/>
            <a:ext cx="4846320" cy="822960"/>
          </a:xfrm>
          <a:prstGeom prst="roundRect">
            <a:avLst/>
          </a:prstGeom>
          <a:solidFill>
            <a:srgbClr val="162038"/>
          </a:solidFill>
          <a:ln w="1397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3794760"/>
            <a:ext cx="4517136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F43F5E"/>
                </a:solidFill>
                <a:latin typeface="Aptos"/>
              </a:rPr>
              <a:t>Slow triage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4041648"/>
            <a:ext cx="4517136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Aptos"/>
              </a:rPr>
              <a:t>Operators lose time deciding what is first, what is real, and what changed.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617720"/>
            <a:ext cx="4846320" cy="822960"/>
          </a:xfrm>
          <a:prstGeom prst="roundRect">
            <a:avLst/>
          </a:prstGeom>
          <a:solidFill>
            <a:srgbClr val="162038"/>
          </a:solidFill>
          <a:ln w="1397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4754880"/>
            <a:ext cx="4517136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30D3FF"/>
                </a:solidFill>
                <a:latin typeface="Aptos"/>
              </a:rPr>
              <a:t>Hidden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5001768"/>
            <a:ext cx="4517136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Aptos"/>
              </a:rPr>
              <a:t>The business cannot easily see why an incident happened or what action was taken.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148840"/>
            <a:ext cx="5394960" cy="3520440"/>
          </a:xfrm>
          <a:prstGeom prst="roundRect">
            <a:avLst/>
          </a:prstGeom>
          <a:solidFill>
            <a:srgbClr val="10182B"/>
          </a:solidFill>
          <a:ln w="1397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331720"/>
            <a:ext cx="182880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22C5A0"/>
                </a:solidFill>
                <a:latin typeface="Aptos"/>
              </a:rPr>
              <a:t>Task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697480"/>
            <a:ext cx="4892040" cy="822960"/>
          </a:xfrm>
          <a:prstGeom prst="roundRect">
            <a:avLst/>
          </a:prstGeom>
          <a:solidFill>
            <a:srgbClr val="162038"/>
          </a:solidFill>
          <a:ln w="1397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2834640"/>
            <a:ext cx="4562856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22C5A0"/>
                </a:solidFill>
                <a:latin typeface="Aptos"/>
              </a:rPr>
              <a:t>Normalize everything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3081528"/>
            <a:ext cx="4562856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Aptos"/>
              </a:rPr>
              <a:t>Every intake path lands in the same incident envelope and queue.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657600"/>
            <a:ext cx="4892040" cy="822960"/>
          </a:xfrm>
          <a:prstGeom prst="roundRect">
            <a:avLst/>
          </a:prstGeom>
          <a:solidFill>
            <a:srgbClr val="162038"/>
          </a:solidFill>
          <a:ln w="1397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3794760"/>
            <a:ext cx="4562856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30D3FF"/>
                </a:solidFill>
                <a:latin typeface="Aptos"/>
              </a:rPr>
              <a:t>Show the whole incident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4041648"/>
            <a:ext cx="4562856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Aptos"/>
              </a:rPr>
              <a:t>The console presents workflow, evidence, audit, and execution state together.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617720"/>
            <a:ext cx="4892040" cy="822960"/>
          </a:xfrm>
          <a:prstGeom prst="roundRect">
            <a:avLst/>
          </a:prstGeom>
          <a:solidFill>
            <a:srgbClr val="162038"/>
          </a:solidFill>
          <a:ln w="1397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5392" y="4754880"/>
            <a:ext cx="4562856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A3E635"/>
                </a:solidFill>
                <a:latin typeface="Aptos"/>
              </a:rPr>
              <a:t>Make action governed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5392" y="5001768"/>
            <a:ext cx="4562856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Aptos"/>
              </a:rPr>
              <a:t>The system is explicit about what is visible now and what still needs hardening.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5897880"/>
            <a:ext cx="10972800" cy="3657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300" b="0" i="0">
                <a:solidFill>
                  <a:srgbClr val="CBD5E1"/>
                </a:solidFill>
                <a:latin typeface="Aptos"/>
              </a:rPr>
              <a:t>Supported intake channels: Webhook • Manual form • Slack-style command • Stream anomaly • Batch import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1828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  <a:latin typeface="Aptos"/>
              </a:rP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920240" cy="329184"/>
          </a:xfrm>
          <a:prstGeom prst="roundRect">
            <a:avLst/>
          </a:prstGeom>
          <a:solidFill>
            <a:srgbClr val="22C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A1126"/>
                </a:solidFill>
                <a:latin typeface="Aptos"/>
              </a:rPr>
              <a:t>02 / STAR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5760720" cy="10058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700" b="1" i="0">
                <a:solidFill>
                  <a:srgbClr val="F8FAFC"/>
                </a:solidFill>
                <a:latin typeface="Aptos"/>
              </a:rPr>
              <a:t>Action: the live product already proves the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486400" cy="6858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Aptos"/>
              </a:rPr>
              <a:t>These screens demonstrate intake, queueing, incident analysis, and controlled execution on the same product surface.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48840"/>
            <a:ext cx="2743200" cy="1874519"/>
          </a:xfrm>
          <a:prstGeom prst="roundRect">
            <a:avLst/>
          </a:prstGeom>
          <a:solidFill>
            <a:srgbClr val="162038"/>
          </a:solidFill>
          <a:ln w="1397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ueue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459736"/>
            <a:ext cx="2633472" cy="150875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2960" y="2221992"/>
            <a:ext cx="1188720" cy="329184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A1126"/>
                </a:solidFill>
                <a:latin typeface="Aptos"/>
              </a:rPr>
              <a:t>Queue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206240"/>
            <a:ext cx="2743200" cy="1783080"/>
          </a:xfrm>
          <a:prstGeom prst="roundRect">
            <a:avLst/>
          </a:prstGeom>
          <a:solidFill>
            <a:srgbClr val="162038"/>
          </a:solidFill>
          <a:ln w="1397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nputs_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517136"/>
            <a:ext cx="2633472" cy="14173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22960" y="4279392"/>
            <a:ext cx="1188720" cy="329184"/>
          </a:xfrm>
          <a:prstGeom prst="roundRect">
            <a:avLst/>
          </a:prstGeom>
          <a:solidFill>
            <a:srgbClr val="22C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A1126"/>
                </a:solidFill>
                <a:latin typeface="Aptos"/>
              </a:rPr>
              <a:t>Inputs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2148840"/>
            <a:ext cx="7909560" cy="3840480"/>
          </a:xfrm>
          <a:prstGeom prst="roundRect">
            <a:avLst/>
          </a:prstGeom>
          <a:solidFill>
            <a:srgbClr val="162038"/>
          </a:solidFill>
          <a:ln w="1397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ncident_f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1608" y="2267712"/>
            <a:ext cx="7680960" cy="35661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803904" y="5879592"/>
            <a:ext cx="704088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Aptos"/>
              </a:rPr>
              <a:t>Incident console: workflow timeline, evidence provenance, audit trail, and execution state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6309360"/>
            <a:ext cx="1920240" cy="329184"/>
          </a:xfrm>
          <a:prstGeom prst="roundRect">
            <a:avLst/>
          </a:prstGeom>
          <a:solidFill>
            <a:srgbClr val="30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A1126"/>
                </a:solidFill>
                <a:latin typeface="Aptos"/>
              </a:rPr>
              <a:t>Workflow timeline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79776" y="6309360"/>
            <a:ext cx="1920240" cy="329184"/>
          </a:xfrm>
          <a:prstGeom prst="roundRect">
            <a:avLst/>
          </a:prstGeom>
          <a:solidFill>
            <a:srgbClr val="22C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A1126"/>
                </a:solidFill>
                <a:latin typeface="Aptos"/>
              </a:rPr>
              <a:t>Agent handoff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09744" y="6309360"/>
            <a:ext cx="1920240" cy="329184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A1126"/>
                </a:solidFill>
                <a:latin typeface="Aptos"/>
              </a:rPr>
              <a:t>Evidence provenance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39712" y="6309360"/>
            <a:ext cx="1920240" cy="329184"/>
          </a:xfrm>
          <a:prstGeom prst="roundRect">
            <a:avLst/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A1126"/>
                </a:solidFill>
                <a:latin typeface="Aptos"/>
              </a:rPr>
              <a:t>Audit trail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6309360"/>
            <a:ext cx="1645920" cy="329184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A1126"/>
                </a:solidFill>
                <a:latin typeface="Aptos"/>
              </a:rPr>
              <a:t>Execution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46520"/>
            <a:ext cx="914400" cy="1828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  <a:latin typeface="Aptos"/>
              </a:rP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920240" cy="329184"/>
          </a:xfrm>
          <a:prstGeom prst="roundRect">
            <a:avLst/>
          </a:prstGeom>
          <a:solidFill>
            <a:srgbClr val="22C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A1126"/>
                </a:solidFill>
                <a:latin typeface="Aptos"/>
              </a:rPr>
              <a:t>03 / STAR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5760720" cy="10058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700" b="1" i="0">
                <a:solidFill>
                  <a:srgbClr val="F8FAFC"/>
                </a:solidFill>
                <a:latin typeface="Aptos"/>
              </a:rPr>
              <a:t>Result: value for every stakeholder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486400" cy="6858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Aptos"/>
              </a:rPr>
              <a:t>The product is credible now, understandable to non-technical reviewers, and structured for the next hardening phase.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240280"/>
            <a:ext cx="5074920" cy="987552"/>
          </a:xfrm>
          <a:prstGeom prst="roundRect">
            <a:avLst/>
          </a:prstGeom>
          <a:solidFill>
            <a:srgbClr val="162038"/>
          </a:solidFill>
          <a:ln w="1397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377440"/>
            <a:ext cx="4745736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Aptos"/>
              </a:rPr>
              <a:t>Business / leadership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624328"/>
            <a:ext cx="4745736" cy="53035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Aptos"/>
              </a:rPr>
              <a:t>A visible enterprise story with control, traceability, and a clear reason to believe.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456432"/>
            <a:ext cx="5074920" cy="987552"/>
          </a:xfrm>
          <a:prstGeom prst="roundRect">
            <a:avLst/>
          </a:prstGeom>
          <a:solidFill>
            <a:srgbClr val="162038"/>
          </a:solidFill>
          <a:ln w="1397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3593592"/>
            <a:ext cx="4745736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30D3FF"/>
                </a:solidFill>
                <a:latin typeface="Aptos"/>
              </a:rPr>
              <a:t>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840480"/>
            <a:ext cx="4745736" cy="53035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Aptos"/>
              </a:rPr>
              <a:t>A coherent user journey from intake to console to history, replay, training, and settings.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672584"/>
            <a:ext cx="5074920" cy="987552"/>
          </a:xfrm>
          <a:prstGeom prst="roundRect">
            <a:avLst/>
          </a:prstGeom>
          <a:solidFill>
            <a:srgbClr val="162038"/>
          </a:solidFill>
          <a:ln w="1397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4809744"/>
            <a:ext cx="4745736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22C5A0"/>
                </a:solidFill>
                <a:latin typeface="Aptos"/>
              </a:rPr>
              <a:t>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5056632"/>
            <a:ext cx="4745736" cy="53035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Aptos"/>
              </a:rPr>
              <a:t>Clear contracts and a bounded architecture that can be hardened without rewiring the UI.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5888736"/>
            <a:ext cx="5074920" cy="987552"/>
          </a:xfrm>
          <a:prstGeom prst="roundRect">
            <a:avLst/>
          </a:prstGeom>
          <a:solidFill>
            <a:srgbClr val="162038"/>
          </a:solidFill>
          <a:ln w="1397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6025896"/>
            <a:ext cx="4745736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A3E635"/>
                </a:solidFill>
                <a:latin typeface="Aptos"/>
              </a:rPr>
              <a:t>Triage /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6272784"/>
            <a:ext cx="4745736" cy="53035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  <a:latin typeface="Aptos"/>
              </a:rPr>
              <a:t>A queue-first console that shows what is next, what happened, and what action is safe.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2240280"/>
            <a:ext cx="2697480" cy="1828800"/>
          </a:xfrm>
          <a:prstGeom prst="roundRect">
            <a:avLst/>
          </a:prstGeom>
          <a:solidFill>
            <a:srgbClr val="162038"/>
          </a:solidFill>
          <a:ln w="1397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training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2551176"/>
            <a:ext cx="2587752" cy="146304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199632" y="2313432"/>
            <a:ext cx="1188720" cy="329184"/>
          </a:xfrm>
          <a:prstGeom prst="roundRect">
            <a:avLst/>
          </a:prstGeom>
          <a:solidFill>
            <a:srgbClr val="22C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A1126"/>
                </a:solidFill>
                <a:latin typeface="Aptos"/>
              </a:rPr>
              <a:t>Training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2240280"/>
            <a:ext cx="2697480" cy="1828800"/>
          </a:xfrm>
          <a:prstGeom prst="roundRect">
            <a:avLst/>
          </a:prstGeom>
          <a:solidFill>
            <a:srgbClr val="162038"/>
          </a:solidFill>
          <a:ln w="1397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ettings_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264" y="2551176"/>
            <a:ext cx="2587752" cy="146304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9079992" y="2313432"/>
            <a:ext cx="1188720" cy="329184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A1126"/>
                </a:solidFill>
                <a:latin typeface="Aptos"/>
              </a:rPr>
              <a:t>Settings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4315968"/>
            <a:ext cx="5577840" cy="1600200"/>
          </a:xfrm>
          <a:prstGeom prst="roundRect">
            <a:avLst/>
          </a:prstGeom>
          <a:solidFill>
            <a:srgbClr val="10182B"/>
          </a:solidFill>
          <a:ln w="1397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72784" y="4526280"/>
            <a:ext cx="5120640" cy="310896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Aptos"/>
              </a:rPr>
              <a:t>Why this matters to the judging body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4864608"/>
            <a:ext cx="5120640" cy="7772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Aptos"/>
              </a:rPr>
              <a:t>The product is not just a concept. It is a live, explainable workflow that already demonstrates the business story, the user experience, and the technical direction.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0" y="6053328"/>
            <a:ext cx="5577840" cy="411480"/>
          </a:xfrm>
          <a:prstGeom prst="roundRect">
            <a:avLst/>
          </a:prstGeom>
          <a:solidFill>
            <a:srgbClr val="22C5A0"/>
          </a:solidFill>
          <a:ln w="13970">
            <a:solidFill>
              <a:srgbClr val="22C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6126480"/>
            <a:ext cx="5212080" cy="1828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0A1126"/>
                </a:solidFill>
                <a:latin typeface="Aptos"/>
              </a:rPr>
              <a:t>Queue-first. Explainable. Auditable. Ready to harden.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1828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  <a:latin typeface="Aptos"/>
              </a:rP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920240" cy="329184"/>
          </a:xfrm>
          <a:prstGeom prst="roundRect">
            <a:avLst/>
          </a:prstGeom>
          <a:solidFill>
            <a:srgbClr val="22C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A1126"/>
                </a:solidFill>
                <a:latin typeface="Aptos"/>
              </a:rPr>
              <a:t>04 / STAR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5760720" cy="10058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700" b="1" i="0">
                <a:solidFill>
                  <a:srgbClr val="F8FAFC"/>
                </a:solidFill>
                <a:latin typeface="Aptos"/>
              </a:rPr>
              <a:t>Technical design and next 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486400" cy="6858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  <a:latin typeface="Aptos"/>
              </a:rPr>
              <a:t>The current implementation is demo-ready, with clear seams for the deeper enterprise hardening 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20240"/>
            <a:ext cx="1783080" cy="786384"/>
          </a:xfrm>
          <a:prstGeom prst="roundRect">
            <a:avLst/>
          </a:prstGeom>
          <a:solidFill>
            <a:srgbClr val="FBBF24"/>
          </a:solidFill>
          <a:ln w="1397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76200"/>
          <a:lstStyle/>
          <a:p>
            <a:pPr algn="ctr"/>
            <a:r>
              <a:rPr sz="1400" b="1">
                <a:solidFill>
                  <a:srgbClr val="0A1126"/>
                </a:solidFill>
                <a:latin typeface="Aptos"/>
              </a:rPr>
              <a:t>Intake</a:t>
            </a:r>
          </a:p>
          <a:p>
            <a:pPr algn="ctr"/>
            <a:r>
              <a:rPr sz="1000">
                <a:solidFill>
                  <a:srgbClr val="0A1126"/>
                </a:solidFill>
                <a:latin typeface="Aptos"/>
              </a:rPr>
              <a:t>Webhook, manual, chat, stream, batch</a:t>
            </a:r>
          </a:p>
        </p:txBody>
      </p:sp>
      <p:sp>
        <p:nvSpPr>
          <p:cNvPr id="7" name="Chevron 6"/>
          <p:cNvSpPr/>
          <p:nvPr/>
        </p:nvSpPr>
        <p:spPr>
          <a:xfrm>
            <a:off x="2404872" y="2093976"/>
            <a:ext cx="155448" cy="420624"/>
          </a:xfrm>
          <a:prstGeom prst="chevron">
            <a:avLst/>
          </a:prstGeom>
          <a:solidFill>
            <a:srgbClr val="30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34056" y="1920240"/>
            <a:ext cx="1783080" cy="786384"/>
          </a:xfrm>
          <a:prstGeom prst="roundRect">
            <a:avLst/>
          </a:prstGeom>
          <a:solidFill>
            <a:srgbClr val="30D3FF"/>
          </a:solidFill>
          <a:ln w="13970">
            <a:solidFill>
              <a:srgbClr val="30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76200"/>
          <a:lstStyle/>
          <a:p>
            <a:pPr algn="ctr"/>
            <a:r>
              <a:rPr sz="1400" b="1">
                <a:solidFill>
                  <a:srgbClr val="0A1126"/>
                </a:solidFill>
                <a:latin typeface="Aptos"/>
              </a:rPr>
              <a:t>Normalize</a:t>
            </a:r>
          </a:p>
          <a:p>
            <a:pPr algn="ctr"/>
            <a:r>
              <a:rPr sz="1000">
                <a:solidFill>
                  <a:srgbClr val="0A1126"/>
                </a:solidFill>
                <a:latin typeface="Aptos"/>
              </a:rPr>
              <a:t>One incident envelope</a:t>
            </a:r>
          </a:p>
        </p:txBody>
      </p:sp>
      <p:sp>
        <p:nvSpPr>
          <p:cNvPr id="9" name="Chevron 8"/>
          <p:cNvSpPr/>
          <p:nvPr/>
        </p:nvSpPr>
        <p:spPr>
          <a:xfrm>
            <a:off x="4544568" y="2093976"/>
            <a:ext cx="155448" cy="420624"/>
          </a:xfrm>
          <a:prstGeom prst="chevron">
            <a:avLst/>
          </a:prstGeom>
          <a:solidFill>
            <a:srgbClr val="22C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73752" y="1920240"/>
            <a:ext cx="1783080" cy="786384"/>
          </a:xfrm>
          <a:prstGeom prst="roundRect">
            <a:avLst/>
          </a:prstGeom>
          <a:solidFill>
            <a:srgbClr val="22C5A0"/>
          </a:solidFill>
          <a:ln w="13970">
            <a:solidFill>
              <a:srgbClr val="22C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76200"/>
          <a:lstStyle/>
          <a:p>
            <a:pPr algn="ctr"/>
            <a:r>
              <a:rPr sz="1400" b="1">
                <a:solidFill>
                  <a:srgbClr val="0A1126"/>
                </a:solidFill>
                <a:latin typeface="Aptos"/>
              </a:rPr>
              <a:t>Queue</a:t>
            </a:r>
          </a:p>
          <a:p>
            <a:pPr algn="ctr"/>
            <a:r>
              <a:rPr sz="1000">
                <a:solidFill>
                  <a:srgbClr val="0A1126"/>
                </a:solidFill>
                <a:latin typeface="Aptos"/>
              </a:rPr>
              <a:t>Priority, stage, ETA</a:t>
            </a:r>
          </a:p>
        </p:txBody>
      </p:sp>
      <p:sp>
        <p:nvSpPr>
          <p:cNvPr id="11" name="Chevron 10"/>
          <p:cNvSpPr/>
          <p:nvPr/>
        </p:nvSpPr>
        <p:spPr>
          <a:xfrm>
            <a:off x="6684264" y="2093976"/>
            <a:ext cx="155448" cy="420624"/>
          </a:xfrm>
          <a:prstGeom prst="chevron">
            <a:avLst/>
          </a:prstGeom>
          <a:solidFill>
            <a:srgbClr val="30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013448" y="1920240"/>
            <a:ext cx="1783080" cy="786384"/>
          </a:xfrm>
          <a:prstGeom prst="roundRect">
            <a:avLst/>
          </a:prstGeom>
          <a:solidFill>
            <a:srgbClr val="A3E635"/>
          </a:solidFill>
          <a:ln w="1397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76200"/>
          <a:lstStyle/>
          <a:p>
            <a:pPr algn="ctr"/>
            <a:r>
              <a:rPr sz="1400" b="1">
                <a:solidFill>
                  <a:srgbClr val="0A1126"/>
                </a:solidFill>
                <a:latin typeface="Aptos"/>
              </a:rPr>
              <a:t>Console</a:t>
            </a:r>
          </a:p>
          <a:p>
            <a:pPr algn="ctr"/>
            <a:r>
              <a:rPr sz="1000">
                <a:solidFill>
                  <a:srgbClr val="0A1126"/>
                </a:solidFill>
                <a:latin typeface="Aptos"/>
              </a:rPr>
              <a:t>Evidence, audit, action</a:t>
            </a:r>
          </a:p>
        </p:txBody>
      </p:sp>
      <p:sp>
        <p:nvSpPr>
          <p:cNvPr id="13" name="Chevron 12"/>
          <p:cNvSpPr/>
          <p:nvPr/>
        </p:nvSpPr>
        <p:spPr>
          <a:xfrm>
            <a:off x="8823960" y="2093976"/>
            <a:ext cx="155448" cy="420624"/>
          </a:xfrm>
          <a:prstGeom prst="chevron">
            <a:avLst/>
          </a:prstGeom>
          <a:solidFill>
            <a:srgbClr val="22C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53144" y="1920240"/>
            <a:ext cx="1783080" cy="786384"/>
          </a:xfrm>
          <a:prstGeom prst="roundRect">
            <a:avLst/>
          </a:prstGeom>
          <a:solidFill>
            <a:srgbClr val="F43F5E"/>
          </a:solidFill>
          <a:ln w="1397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76200"/>
          <a:lstStyle/>
          <a:p>
            <a:pPr algn="ctr"/>
            <a:r>
              <a:rPr sz="1400" b="1">
                <a:solidFill>
                  <a:srgbClr val="0A1126"/>
                </a:solidFill>
                <a:latin typeface="Aptos"/>
              </a:rPr>
              <a:t>Replay / Training</a:t>
            </a:r>
          </a:p>
          <a:p>
            <a:pPr algn="ctr"/>
            <a:r>
              <a:rPr sz="1000">
                <a:solidFill>
                  <a:srgbClr val="0A1126"/>
                </a:solidFill>
                <a:latin typeface="Aptos"/>
              </a:rPr>
              <a:t>Learning and validation</a:t>
            </a:r>
          </a:p>
        </p:txBody>
      </p:sp>
      <p:sp>
        <p:nvSpPr>
          <p:cNvPr id="15" name="Chevron 14"/>
          <p:cNvSpPr/>
          <p:nvPr/>
        </p:nvSpPr>
        <p:spPr>
          <a:xfrm>
            <a:off x="10963656" y="2093976"/>
            <a:ext cx="155448" cy="420624"/>
          </a:xfrm>
          <a:prstGeom prst="chevron">
            <a:avLst/>
          </a:prstGeom>
          <a:solidFill>
            <a:srgbClr val="30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292840" y="1920240"/>
            <a:ext cx="1783080" cy="786384"/>
          </a:xfrm>
          <a:prstGeom prst="roundRect">
            <a:avLst/>
          </a:prstGeom>
          <a:solidFill>
            <a:srgbClr val="FBBF24"/>
          </a:solidFill>
          <a:ln w="1397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76200"/>
          <a:lstStyle/>
          <a:p>
            <a:pPr algn="ctr"/>
            <a:r>
              <a:rPr sz="1400" b="1">
                <a:solidFill>
                  <a:srgbClr val="0A1126"/>
                </a:solidFill>
                <a:latin typeface="Aptos"/>
              </a:rPr>
              <a:t>Settings</a:t>
            </a:r>
          </a:p>
          <a:p>
            <a:pPr algn="ctr"/>
            <a:r>
              <a:rPr sz="1000">
                <a:solidFill>
                  <a:srgbClr val="0A1126"/>
                </a:solidFill>
                <a:latin typeface="Aptos"/>
              </a:rPr>
              <a:t>Trust and readiness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063240"/>
            <a:ext cx="5349240" cy="2423160"/>
          </a:xfrm>
          <a:prstGeom prst="roundRect">
            <a:avLst/>
          </a:prstGeom>
          <a:solidFill>
            <a:srgbClr val="10182B"/>
          </a:solidFill>
          <a:ln w="1397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246120"/>
            <a:ext cx="256032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30D3FF"/>
                </a:solidFill>
                <a:latin typeface="Aptos"/>
              </a:rPr>
              <a:t>Current implementation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11880"/>
            <a:ext cx="4754880" cy="1554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400" b="0">
                <a:solidFill>
                  <a:srgbClr val="F8FAFC"/>
                </a:solidFill>
                <a:latin typeface="Aptos"/>
              </a:defRPr>
            </a:pPr>
            <a:r>
              <a:t>FastAPI app serving the UI and versioned contracts</a:t>
            </a:r>
          </a:p>
          <a:p>
            <a:pPr>
              <a:lnSpc>
                <a:spcPct val="105000"/>
              </a:lnSpc>
              <a:defRPr sz="1400" b="0">
                <a:solidFill>
                  <a:srgbClr val="F8FAFC"/>
                </a:solidFill>
                <a:latin typeface="Aptos"/>
              </a:defRPr>
            </a:pPr>
            <a:r>
              <a:t>Static frontend pages with page-specific controllers</a:t>
            </a:r>
          </a:p>
          <a:p>
            <a:pPr>
              <a:lnSpc>
                <a:spcPct val="105000"/>
              </a:lnSpc>
              <a:defRPr sz="1400" b="0">
                <a:solidFill>
                  <a:srgbClr val="F8FAFC"/>
                </a:solidFill>
                <a:latin typeface="Aptos"/>
              </a:defRPr>
            </a:pPr>
            <a:r>
              <a:t>File-backed local persistence for incidents and audit</a:t>
            </a:r>
          </a:p>
          <a:p>
            <a:pPr>
              <a:lnSpc>
                <a:spcPct val="105000"/>
              </a:lnSpc>
              <a:defRPr sz="1400" b="0">
                <a:solidFill>
                  <a:srgbClr val="F8FAFC"/>
                </a:solidFill>
                <a:latin typeface="Aptos"/>
              </a:defRPr>
            </a:pPr>
            <a:r>
              <a:t>Signed intake and clear queue/console seams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063240"/>
            <a:ext cx="5303520" cy="2423160"/>
          </a:xfrm>
          <a:prstGeom prst="roundRect">
            <a:avLst/>
          </a:prstGeom>
          <a:solidFill>
            <a:srgbClr val="10182B"/>
          </a:solidFill>
          <a:ln w="1397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3246120"/>
            <a:ext cx="210312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BBF24"/>
                </a:solidFill>
                <a:latin typeface="Aptos"/>
              </a:rPr>
              <a:t>Next phase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611880"/>
            <a:ext cx="4709160" cy="1554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>
              <a:lnSpc>
                <a:spcPct val="105000"/>
              </a:lnSpc>
              <a:defRPr sz="1400" b="0">
                <a:solidFill>
                  <a:srgbClr val="F8FAFC"/>
                </a:solidFill>
                <a:latin typeface="Aptos"/>
              </a:defRPr>
            </a:pPr>
            <a:r>
              <a:t>Real observability integrations and evidence fusion</a:t>
            </a:r>
          </a:p>
          <a:p>
            <a:pPr>
              <a:lnSpc>
                <a:spcPct val="105000"/>
              </a:lnSpc>
              <a:defRPr sz="1400" b="0">
                <a:solidFill>
                  <a:srgbClr val="F8FAFC"/>
                </a:solidFill>
                <a:latin typeface="Aptos"/>
              </a:defRPr>
            </a:pPr>
            <a:r>
              <a:t>Stronger GUARDIAN execution policy and governance</a:t>
            </a:r>
          </a:p>
          <a:p>
            <a:pPr>
              <a:lnSpc>
                <a:spcPct val="105000"/>
              </a:lnSpc>
              <a:defRPr sz="1400" b="0">
                <a:solidFill>
                  <a:srgbClr val="F8FAFC"/>
                </a:solidFill>
                <a:latin typeface="Aptos"/>
              </a:defRPr>
            </a:pPr>
            <a:r>
              <a:t>Production persistence and hardened auth/tenant boundaries</a:t>
            </a:r>
          </a:p>
          <a:p>
            <a:pPr>
              <a:lnSpc>
                <a:spcPct val="105000"/>
              </a:lnSpc>
              <a:defRPr sz="1400" b="0">
                <a:solidFill>
                  <a:srgbClr val="F8FAFC"/>
                </a:solidFill>
                <a:latin typeface="Aptos"/>
              </a:defRPr>
            </a:pPr>
            <a:r>
              <a:t>Further backend service decomposition and operational cleanup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650992"/>
            <a:ext cx="10927080" cy="786384"/>
          </a:xfrm>
          <a:prstGeom prst="roundRect">
            <a:avLst/>
          </a:prstGeom>
          <a:solidFill>
            <a:srgbClr val="22C5A0"/>
          </a:solidFill>
          <a:ln w="13970">
            <a:solidFill>
              <a:srgbClr val="22C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833872"/>
            <a:ext cx="1042416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0A1126"/>
                </a:solidFill>
                <a:latin typeface="Aptos"/>
              </a:rPr>
              <a:t>The deck closes with a simple message: the product already reads as enterprise-grade, and the remaining work is focused on hardening, integration, and scale.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914400" cy="1828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  <a:latin typeface="Aptos"/>
              </a:rP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